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CloseCrab-Unified (C++)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启动时间 (ms)</c:v>
                  </c:pt>
                  <c:pt idx="1">
                    <c:v>空闲内存 (MB)</c:v>
                  </c:pt>
                  <c:pt idx="2">
                    <c:v>工具延迟 (ms)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15</c:v>
                </c:pt>
                <c:pt idx="2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Node.js 方案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启动时间 (ms)</c:v>
                  </c:pt>
                  <c:pt idx="1">
                    <c:v>空闲内存 (MB)</c:v>
                  </c:pt>
                  <c:pt idx="2">
                    <c:v>工具延迟 (ms)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2000</c:v>
                </c:pt>
                <c:pt idx="1">
                  <c:v>150</c:v>
                </c:pt>
                <c:pt idx="2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4A3B8"/>
                </a:solidFill>
                <a:latin typeface="Arial"/>
              </a:rPr>
              <a:t>收入预测 (万元)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企业版订阅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800</c:v>
                </c:pt>
                <c:pt idx="2">
                  <c:v>3500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SaaS 服务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200</c:v>
                </c:pt>
                <c:pt idx="2">
                  <c:v>1500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增值服务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30</c:v>
                </c:pt>
                <c:pt idx="1">
                  <c:v>300</c:v>
                </c:pt>
                <c:pt idx="2">
                  <c:v>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122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34155"/>
                </a:solidFill>
                <a:latin typeface="Arial"/>
              </a:rPr>
              <a:t>资金用途分配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资金用途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研发团队</c:v>
                </c:pt>
                <c:pt idx="1">
                  <c:v>市场推广</c:v>
                </c:pt>
                <c:pt idx="2">
                  <c:v>基础设施</c:v>
                </c:pt>
                <c:pt idx="3">
                  <c:v>运营储备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50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457200"/>
            <a:ext cx="2011680" cy="2011680"/>
          </a:xfrm>
          <a:prstGeom prst="rect">
            <a:avLst/>
          </a:prstGeom>
          <a:solidFill>
            <a:srgbClr val="2563EB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914400"/>
            <a:ext cx="1645920" cy="1645920"/>
          </a:xfrm>
          <a:prstGeom prst="rect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914400"/>
            <a:ext cx="914400" cy="91440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028700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CloseCrab-Unified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本地优先的 AI 编程助手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隐私安全 · 极致性能 · 零成本推理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融资商业计划书  |  2026年4月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行业痛点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840480" cy="1554480"/>
          </a:xfrm>
          <a:prstGeom prst="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54864" cy="1554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502920" cy="50292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105" y="1525905"/>
            <a:ext cx="377190" cy="3771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隐私泄露风险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17320" y="1737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代码上传至云端服务器，企业核心代码面临泄露风险，金融、医疗、政府等行业合规要求严格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188720"/>
            <a:ext cx="3840480" cy="1554480"/>
          </a:xfrm>
          <a:prstGeom prst="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188720"/>
            <a:ext cx="54864" cy="1554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0"/>
          <p:cNvSpPr/>
          <p:nvPr/>
        </p:nvSpPr>
        <p:spPr>
          <a:xfrm>
            <a:off x="4983480" y="1463040"/>
            <a:ext cx="502920" cy="50292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345" y="1525905"/>
            <a:ext cx="377190" cy="3771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成本高昂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623560" y="1737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 API 调用产生高额费用，中小团队难以承受，按 Token 计费模式不可预测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2971800"/>
            <a:ext cx="3840480" cy="1554480"/>
          </a:xfrm>
          <a:prstGeom prst="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8640" y="2971800"/>
            <a:ext cx="54864" cy="1554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Shape 15"/>
          <p:cNvSpPr/>
          <p:nvPr/>
        </p:nvSpPr>
        <p:spPr>
          <a:xfrm>
            <a:off x="777240" y="3246120"/>
            <a:ext cx="502920" cy="50292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05" y="3308985"/>
            <a:ext cx="377190" cy="37719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1732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网络依赖严重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417320" y="3520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离线环境无法使用，弱网地区体验极差，内网开发场景完全无法覆盖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754880" y="2971800"/>
            <a:ext cx="3840480" cy="1554480"/>
          </a:xfrm>
          <a:prstGeom prst="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54880" y="2971800"/>
            <a:ext cx="54864" cy="1554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Shape 20"/>
          <p:cNvSpPr/>
          <p:nvPr/>
        </p:nvSpPr>
        <p:spPr>
          <a:xfrm>
            <a:off x="4983480" y="3246120"/>
            <a:ext cx="502920" cy="50292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345" y="3308985"/>
            <a:ext cx="377190" cy="37719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2356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性能瓶颈明显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5623560" y="3520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Node.js/Python 运行时启动慢、内存占用高，大型项目中工具执行延迟显著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我们的解决方案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CloseCrab-Unified = 本地推理引擎 + 全能工具链 + 企业级安全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560320" cy="283464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1965960"/>
            <a:ext cx="822960" cy="82296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190" y="2068830"/>
            <a:ext cx="617220" cy="6172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本地优先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所有数据留在本地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零网络依赖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满足最严格合规要求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83280" y="1645920"/>
            <a:ext cx="2560320" cy="283464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645920"/>
            <a:ext cx="256032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Shape 11"/>
          <p:cNvSpPr/>
          <p:nvPr/>
        </p:nvSpPr>
        <p:spPr>
          <a:xfrm>
            <a:off x="4251960" y="1965960"/>
            <a:ext cx="822960" cy="822960"/>
          </a:xfrm>
          <a:prstGeom prst="oval">
            <a:avLst/>
          </a:prstGeom>
          <a:solidFill>
            <a:srgbClr val="06B6D4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830" y="2068830"/>
            <a:ext cx="617220" cy="6172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6616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极致性能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566160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C++17 原生编译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 &lt;100ms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内存仅 ~15MB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217920" y="1645920"/>
            <a:ext cx="2560320" cy="283464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64592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Shape 16"/>
          <p:cNvSpPr/>
          <p:nvPr/>
        </p:nvSpPr>
        <p:spPr>
          <a:xfrm>
            <a:off x="7086600" y="1965960"/>
            <a:ext cx="822960" cy="822960"/>
          </a:xfrm>
          <a:prstGeom prst="oval">
            <a:avLst/>
          </a:prstGeom>
          <a:solidFill>
            <a:srgbClr val="10B98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470" y="2068830"/>
            <a:ext cx="617220" cy="6172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全能工具链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400800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个 AI 工具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个命令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多智能体协作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产品概览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一个终端，全部搞定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CloseCrab-Unified 是一款基于 C++17 的终端 AI 编程助手。它将本地 LLM 推理引擎、RAG 语义搜索、多智能体协作和 42 个开发工具整合为一个 ~3MB 的可执行文件。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支持本地 GPU 推理（llama.cpp + CUDA）和云端 API（Claude、OpenAI 等），一行配置即可切换。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0" y="1188720"/>
            <a:ext cx="1737360" cy="146304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0" y="1417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12064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工具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40880" y="1188720"/>
            <a:ext cx="1737360" cy="146304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40880" y="1417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04088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0640" y="2926080"/>
            <a:ext cx="1737360" cy="146304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20640" y="3154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3MB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120640" y="3749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可执行文件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40880" y="2926080"/>
            <a:ext cx="1737360" cy="146304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0880" y="3154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&lt;100ms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040880" y="3749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启动时间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核心功能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560320" cy="16002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3040" y="1325880"/>
            <a:ext cx="640080" cy="64008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050" y="1405890"/>
            <a:ext cx="480060" cy="4800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语义搜索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ONNX 向量检索，在大型代码库中精准定位相关代码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1188720"/>
            <a:ext cx="2560320" cy="16002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97680" y="1325880"/>
            <a:ext cx="640080" cy="64008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7690" y="1405890"/>
            <a:ext cx="480060" cy="4800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SSD 专家流式加载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2044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+ RAM + NVMe 三级缓存，12GB 显卡运行 100B+ MoE 模型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17920" y="1188720"/>
            <a:ext cx="2560320" cy="16002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32320" y="1325880"/>
            <a:ext cx="640080" cy="64008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330" y="1405890"/>
            <a:ext cx="480060" cy="4800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多智能体协作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5508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种智能体类型，Coordinator 模式自动分解复杂任务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3017520"/>
            <a:ext cx="2560320" cy="16002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463040" y="3154680"/>
            <a:ext cx="640080" cy="64008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050" y="3234690"/>
            <a:ext cx="480060" cy="4800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580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协议支持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8580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2.0 标准协议，无缝接入外部工具和服务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383280" y="3017520"/>
            <a:ext cx="2560320" cy="16002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297680" y="3154680"/>
            <a:ext cx="640080" cy="64008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7690" y="3234690"/>
            <a:ext cx="480060" cy="4800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52044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终端 UI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52044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渲染、Vim 模式、语音输出、主题切换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217920" y="3017520"/>
            <a:ext cx="2560320" cy="16002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132320" y="3154680"/>
            <a:ext cx="640080" cy="64008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2330" y="3234690"/>
            <a:ext cx="480060" cy="4800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35508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插件 &amp; 技能系统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35508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可扩展的插件架构，自定义工具、命令和系统提示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技术架构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59436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73152" cy="594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43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终端 UI 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1143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渲染 · Vim 模式 · 语音输出 · 主题系统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0" y="16276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847088"/>
            <a:ext cx="8046720" cy="59436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847088"/>
            <a:ext cx="73152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8928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命令 &amp; 工具层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18928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工具 · 66 命令 · 插件系统 · 技能系统 · Hooks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0" y="23774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596896"/>
            <a:ext cx="8046720" cy="59436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596896"/>
            <a:ext cx="73152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6426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智能体 &amp; 协调层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264261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种智能体 · Coordinator · 并发执行 · 任务管理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0" y="31272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346704"/>
            <a:ext cx="8046720" cy="59436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346704"/>
            <a:ext cx="73152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3924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推理层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26080" y="339242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(CUDA) · Anthropic API · OpenAI API · RAG · SSD Streaming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0" y="38770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096512"/>
            <a:ext cx="8046720" cy="59436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096512"/>
            <a:ext cx="73152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1422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基础设施层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926080" y="41422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持久化 · 权限引擎 · 进程沙箱 · HTTP/WS 服务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性能优势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9728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188720"/>
            <a:ext cx="301752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0" y="1280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40-60x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223760" y="1280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启动速度提升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60720" y="2103120"/>
            <a:ext cx="301752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8-10x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223760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内存占用降低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760720" y="3017520"/>
            <a:ext cx="301752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43600" y="3108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~3MB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223760" y="3108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单文件部署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760720" y="3931920"/>
            <a:ext cx="301752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943600" y="40233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tok/s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223760" y="4023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本地推理速度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市场机遇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3200400" cy="3200400"/>
          </a:xfrm>
          <a:prstGeom prst="oval">
            <a:avLst/>
          </a:prstGeom>
          <a:solidFill>
            <a:srgbClr val="2563EB">
              <a:alpha val="15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1828800"/>
            <a:ext cx="2286000" cy="2286000"/>
          </a:xfrm>
          <a:prstGeom prst="oval">
            <a:avLst/>
          </a:prstGeom>
          <a:solidFill>
            <a:srgbClr val="2563EB">
              <a:alpha val="30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2194560"/>
            <a:ext cx="1463040" cy="1463040"/>
          </a:xfrm>
          <a:prstGeom prst="oval">
            <a:avLst/>
          </a:prstGeom>
          <a:solidFill>
            <a:srgbClr val="2563EB">
              <a:alpha val="50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417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0" y="1874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2606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— 全球 AI 开发工具市场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$450 亿 (2028E)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0352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— AI 编程助手市场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$120 亿 (2028E)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03520" y="3474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— 本地优先 / 隐私敏感市场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$15 亿 (2028E)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增长驱动力：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数据隐私法规趋严 · 企业 AI 本地化需求激增 · GPU 算力成本持续下降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商业模式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65960" cy="329184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25880"/>
            <a:ext cx="141732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获客引擎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822960" cy="82296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931670"/>
            <a:ext cx="617220" cy="6172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开源社区版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31546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开源，免费使用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建立开发者社区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获取用户反馈和贡献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60320" y="1188720"/>
            <a:ext cx="1965960" cy="329184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834640" y="1325880"/>
            <a:ext cx="141732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2834640" y="13258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核心收入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108960" y="1828800"/>
            <a:ext cx="822960" cy="82296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830" y="1931670"/>
            <a:ext cx="617220" cy="6172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51760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企业版订阅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651760" y="31546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团队协作 &amp; 记忆同步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审计日志 &amp; 合规报告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优先技术支持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54880" y="1188720"/>
            <a:ext cx="1965960" cy="329184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029200" y="1325880"/>
            <a:ext cx="141732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7"/>
          <p:cNvSpPr/>
          <p:nvPr/>
        </p:nvSpPr>
        <p:spPr>
          <a:xfrm>
            <a:off x="5029200" y="13258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规模化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303520" y="1828800"/>
            <a:ext cx="822960" cy="82296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390" y="1931670"/>
            <a:ext cx="617220" cy="6172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846320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托管 SaaS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4846320" y="31546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云端托管实例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一键部署 &amp; 自动扩展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按团队规模计费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949440" y="1188720"/>
            <a:ext cx="1965960" cy="3291840"/>
          </a:xfrm>
          <a:prstGeom prst="rect">
            <a:avLst/>
          </a:prstGeom>
          <a:solidFill>
            <a:srgbClr val="0A122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223760" y="1325880"/>
            <a:ext cx="141732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3"/>
          <p:cNvSpPr/>
          <p:nvPr/>
        </p:nvSpPr>
        <p:spPr>
          <a:xfrm>
            <a:off x="7223760" y="13258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高毛利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7498080" y="1828800"/>
            <a:ext cx="822960" cy="82296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0950" y="1931670"/>
            <a:ext cx="617220" cy="6172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040880" y="27889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增值服务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7040880" y="31546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定制化部署咨询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模型优化 &amp; 微调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培训认证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竞争格局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  <a:gridCol w="1554480"/>
                <a:gridCol w="155448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特性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CloseCrab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Unified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Claude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Code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GitHub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Copilot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Cursor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本地推理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离线使用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语义搜索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 专家流式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多智能体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协议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启动时间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内存占用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~150MB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发展路线图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804672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325880" y="2468880"/>
            <a:ext cx="274320" cy="274320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Q2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产品完善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1828800" cy="1645920"/>
          </a:xfrm>
          <a:prstGeom prst="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926080"/>
            <a:ext cx="54864" cy="1645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632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完成剩余 29 个命令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插件 (VS Code)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完整流程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29000" y="2468880"/>
            <a:ext cx="274320" cy="274320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Q3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社区建设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651760" y="2926080"/>
            <a:ext cx="1828800" cy="1645920"/>
          </a:xfrm>
          <a:prstGeom prst="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51760" y="2926080"/>
            <a:ext cx="54864" cy="1645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2834640" y="30632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开源发布 &amp; 社区运营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模型市场 MVP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首批企业试用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32120" y="2468880"/>
            <a:ext cx="274320" cy="274320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Q4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商业化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2926080"/>
            <a:ext cx="1828800" cy="1645920"/>
          </a:xfrm>
          <a:prstGeom prst="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926080"/>
            <a:ext cx="54864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0632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企业版发布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团队协作功能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平台上线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35240" y="2468880"/>
            <a:ext cx="274320" cy="27432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2027 H1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规模化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0" y="2926080"/>
            <a:ext cx="1828800" cy="1645920"/>
          </a:xfrm>
          <a:prstGeom prst="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58000" y="2926080"/>
            <a:ext cx="54864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30632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多语言 IDE 支持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企业级安全认证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国际市场拓展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财务预测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9728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188720"/>
            <a:ext cx="3017520" cy="73152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7" name="Shape 4"/>
          <p:cNvSpPr/>
          <p:nvPr/>
        </p:nvSpPr>
        <p:spPr>
          <a:xfrm>
            <a:off x="5760720" y="1188720"/>
            <a:ext cx="54864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5989320" y="1234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 万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406640" y="1234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年收入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554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种子期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60720" y="2103120"/>
            <a:ext cx="3017520" cy="73152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12" name="Shape 9"/>
          <p:cNvSpPr/>
          <p:nvPr/>
        </p:nvSpPr>
        <p:spPr>
          <a:xfrm>
            <a:off x="5760720" y="2103120"/>
            <a:ext cx="54864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5989320" y="2148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1,300 万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40664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年收入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406640" y="2468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增长期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60720" y="3017520"/>
            <a:ext cx="3017520" cy="73152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17" name="Shape 14"/>
          <p:cNvSpPr/>
          <p:nvPr/>
        </p:nvSpPr>
        <p:spPr>
          <a:xfrm>
            <a:off x="5760720" y="3017520"/>
            <a:ext cx="54864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5"/>
          <p:cNvSpPr/>
          <p:nvPr/>
        </p:nvSpPr>
        <p:spPr>
          <a:xfrm>
            <a:off x="598932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6,000 万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40664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年收入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406640" y="3383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规模化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760720" y="3931920"/>
            <a:ext cx="3017520" cy="73152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22" name="Shape 19"/>
          <p:cNvSpPr/>
          <p:nvPr/>
        </p:nvSpPr>
        <p:spPr>
          <a:xfrm>
            <a:off x="5760720" y="3931920"/>
            <a:ext cx="54864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0"/>
          <p:cNvSpPr/>
          <p:nvPr/>
        </p:nvSpPr>
        <p:spPr>
          <a:xfrm>
            <a:off x="5989320" y="3977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75%+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7406640" y="3977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目标毛利率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406640" y="42976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模式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融资计划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种子轮融资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 万元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出让 10-15% 股权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0" y="100584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017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3017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研发团队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28600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核心工程师招聘、模型优化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3474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88720" y="3474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市场推广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28600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开发者社区运营、品牌建设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3931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88720" y="3931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基础设施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28600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服务器、CI/CD、测试环境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4389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88720" y="4389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运营储备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28600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法务、财务、日常运营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3886200" y="1097280"/>
            <a:ext cx="914400" cy="91440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0" y="121158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945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CloseCrab-Unified — 本地优先的 AI 编程助手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3383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隐私安全 · 极致性能 · 零成本推理 · 企业就绪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联系方式：</a:t>
            </a:r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Blitzball996  |  MIT License  |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CloseCrab-Unified 融资商业计划书</dc:title>
  <dc:subject>PptxGenJS Presentation</dc:subject>
  <dc:creator>CloseCrab-Unified</dc:creator>
  <cp:lastModifiedBy>CloseCrab-Unified</cp:lastModifiedBy>
  <cp:revision>1</cp:revision>
  <dcterms:created xsi:type="dcterms:W3CDTF">2026-04-07T15:07:34Z</dcterms:created>
  <dcterms:modified xsi:type="dcterms:W3CDTF">2026-04-07T15:07:34Z</dcterms:modified>
</cp:coreProperties>
</file>